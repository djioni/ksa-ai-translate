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6"/>
  </p:notesMasterIdLst>
  <p:sldIdLst>
    <p:sldId id="214747624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1A9AD308-F3F3-414D-8390-D203482D0632}">
          <p14:sldIdLst>
            <p14:sldId id="21474762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8"/>
    <a:srgbClr val="FFC000"/>
    <a:srgbClr val="EB4C37"/>
    <a:srgbClr val="BFBFBF"/>
    <a:srgbClr val="000000"/>
    <a:srgbClr val="D8E6F6"/>
    <a:srgbClr val="6499DB"/>
    <a:srgbClr val="D9D9D9"/>
    <a:srgbClr val="429DAA"/>
    <a:srgbClr val="D0E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C5628-C4B1-4496-B3BF-0A5F2B16A162}" v="2335" dt="2025-02-07T11:59:44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64961859-E627-42AC-A15B-49D079B9DEDF}" type="datetimeFigureOut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14EDB051-6810-4593-B599-5F17C57000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DB051-6810-4593-B599-5F17C57000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  <a:sym typeface="Century Gothic" panose="020B0502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6374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899CC0-763F-45D4-9831-29F65C715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3164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899CC0-763F-45D4-9831-29F65C715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6237" y="406052"/>
            <a:ext cx="11434763" cy="5335587"/>
          </a:xfrm>
          <a:prstGeom prst="rect">
            <a:avLst/>
          </a:prstGeom>
        </p:spPr>
        <p:txBody>
          <a:bodyPr/>
          <a:lstStyle>
            <a:lvl1pPr marL="723900" marR="0" indent="-72390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800" b="1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  <a:lvl2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2pPr>
            <a:lvl3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3pPr>
            <a:lvl4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4pPr>
            <a:lvl5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39315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2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35D0EF-49B3-4B34-8147-824201ACF000}"/>
              </a:ext>
            </a:extLst>
          </p:cNvPr>
          <p:cNvSpPr/>
          <p:nvPr userDrawn="1"/>
        </p:nvSpPr>
        <p:spPr bwMode="gray">
          <a:xfrm>
            <a:off x="0" y="1"/>
            <a:ext cx="12192000" cy="15224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112014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7" name="Grid1">
            <a:extLst>
              <a:ext uri="{FF2B5EF4-FFF2-40B4-BE49-F238E27FC236}">
                <a16:creationId xmlns:a16="http://schemas.microsoft.com/office/drawing/2014/main" id="{7A21B4BC-956A-4F09-9129-AC872F045D76}"/>
              </a:ext>
            </a:extLst>
          </p:cNvPr>
          <p:cNvSpPr/>
          <p:nvPr userDrawn="1"/>
        </p:nvSpPr>
        <p:spPr bwMode="gray">
          <a:xfrm>
            <a:off x="0" y="1524000"/>
            <a:ext cx="12192000" cy="533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7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9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70B7BD-FC9D-4F69-A68F-E0C27C382D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418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70B7BD-FC9D-4F69-A68F-E0C27C38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C22C1CB-4182-4CFE-892E-F42BC6EFB9A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6" name="Holder 2">
            <a:extLst>
              <a:ext uri="{FF2B5EF4-FFF2-40B4-BE49-F238E27FC236}">
                <a16:creationId xmlns:a16="http://schemas.microsoft.com/office/drawing/2014/main" id="{8C6B654B-8868-4E04-9D2A-566C949672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3300" y="1377950"/>
            <a:ext cx="3505200" cy="66479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4800" b="1" i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6521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tags" Target="../tags/tag2.xml"/><Relationship Id="rId6" Type="http://schemas.openxmlformats.org/officeDocument/2006/relationships/tags" Target="../tags/tag3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913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73" imgH="473" progId="TCLayout.ActiveDocument.1">
                  <p:embed/>
                </p:oleObj>
              </mc:Choice>
              <mc:Fallback>
                <p:oleObj name="think-cell Slide" r:id="rId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 bwMode="gray">
          <a:xfrm>
            <a:off x="0" y="-1587"/>
            <a:ext cx="12192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81000" y="381000"/>
            <a:ext cx="11049000" cy="9463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2AA55-AD71-458E-AB53-14B489582B00}"/>
              </a:ext>
            </a:extLst>
          </p:cNvPr>
          <p:cNvSpPr txBox="1"/>
          <p:nvPr userDrawn="1"/>
        </p:nvSpPr>
        <p:spPr bwMode="gray">
          <a:xfrm>
            <a:off x="11940791" y="6425871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tx1">
                  <a:lumMod val="10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4" r:id="rId2"/>
    <p:sldLayoutId id="2147483676" r:id="rId3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  <a:sym typeface="Century Gothic" panose="020B0502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9156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734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orient="horz" pos="4320">
          <p15:clr>
            <a:srgbClr val="B4B4B4"/>
          </p15:clr>
        </p15:guide>
        <p15:guide id="19" pos="240">
          <p15:clr>
            <a:srgbClr val="B4B4B4"/>
          </p15:clr>
        </p15:guide>
        <p15:guide id="20" pos="480">
          <p15:clr>
            <a:srgbClr val="B4B4B4"/>
          </p15:clr>
        </p15:guide>
        <p15:guide id="21" pos="720">
          <p15:clr>
            <a:srgbClr val="B4B4B4"/>
          </p15:clr>
        </p15:guide>
        <p15:guide id="22" pos="960">
          <p15:clr>
            <a:srgbClr val="B4B4B4"/>
          </p15:clr>
        </p15:guide>
        <p15:guide id="23" pos="1200">
          <p15:clr>
            <a:srgbClr val="B4B4B4"/>
          </p15:clr>
        </p15:guide>
        <p15:guide id="24" pos="1440">
          <p15:clr>
            <a:srgbClr val="B4B4B4"/>
          </p15:clr>
        </p15:guide>
        <p15:guide id="25" pos="1680">
          <p15:clr>
            <a:srgbClr val="B4B4B4"/>
          </p15:clr>
        </p15:guide>
        <p15:guide id="26" pos="1920">
          <p15:clr>
            <a:srgbClr val="B4B4B4"/>
          </p15:clr>
        </p15:guide>
        <p15:guide id="27" pos="2160">
          <p15:clr>
            <a:srgbClr val="B4B4B4"/>
          </p15:clr>
        </p15:guide>
        <p15:guide id="28" pos="2400">
          <p15:clr>
            <a:srgbClr val="B4B4B4"/>
          </p15:clr>
        </p15:guide>
        <p15:guide id="29" pos="2640">
          <p15:clr>
            <a:srgbClr val="B4B4B4"/>
          </p15:clr>
        </p15:guide>
        <p15:guide id="30" pos="2880">
          <p15:clr>
            <a:srgbClr val="B4B4B4"/>
          </p15:clr>
        </p15:guide>
        <p15:guide id="31" pos="3120">
          <p15:clr>
            <a:srgbClr val="B4B4B4"/>
          </p15:clr>
        </p15:guide>
        <p15:guide id="32" pos="3360">
          <p15:clr>
            <a:srgbClr val="B4B4B4"/>
          </p15:clr>
        </p15:guide>
        <p15:guide id="33" pos="3600">
          <p15:clr>
            <a:srgbClr val="B4B4B4"/>
          </p15:clr>
        </p15:guide>
        <p15:guide id="34" pos="3840">
          <p15:clr>
            <a:srgbClr val="B4B4B4"/>
          </p15:clr>
        </p15:guide>
        <p15:guide id="35" pos="4080">
          <p15:clr>
            <a:srgbClr val="B4B4B4"/>
          </p15:clr>
        </p15:guide>
        <p15:guide id="36" pos="4320">
          <p15:clr>
            <a:srgbClr val="B4B4B4"/>
          </p15:clr>
        </p15:guide>
        <p15:guide id="37" pos="4560">
          <p15:clr>
            <a:srgbClr val="B4B4B4"/>
          </p15:clr>
        </p15:guide>
        <p15:guide id="38" pos="4800">
          <p15:clr>
            <a:srgbClr val="B4B4B4"/>
          </p15:clr>
        </p15:guide>
        <p15:guide id="39" pos="5040">
          <p15:clr>
            <a:srgbClr val="B4B4B4"/>
          </p15:clr>
        </p15:guide>
        <p15:guide id="40" pos="5280">
          <p15:clr>
            <a:srgbClr val="B4B4B4"/>
          </p15:clr>
        </p15:guide>
        <p15:guide id="41" pos="5520">
          <p15:clr>
            <a:srgbClr val="B4B4B4"/>
          </p15:clr>
        </p15:guide>
        <p15:guide id="42" pos="5760">
          <p15:clr>
            <a:srgbClr val="B4B4B4"/>
          </p15:clr>
        </p15:guide>
        <p15:guide id="43" pos="6000">
          <p15:clr>
            <a:srgbClr val="B4B4B4"/>
          </p15:clr>
        </p15:guide>
        <p15:guide id="44" pos="6240">
          <p15:clr>
            <a:srgbClr val="B4B4B4"/>
          </p15:clr>
        </p15:guide>
        <p15:guide id="45" pos="6480">
          <p15:clr>
            <a:srgbClr val="B4B4B4"/>
          </p15:clr>
        </p15:guide>
        <p15:guide id="46" pos="6720">
          <p15:clr>
            <a:srgbClr val="B4B4B4"/>
          </p15:clr>
        </p15:guide>
        <p15:guide id="47" pos="6960">
          <p15:clr>
            <a:srgbClr val="B4B4B4"/>
          </p15:clr>
        </p15:guide>
        <p15:guide id="48" pos="7200">
          <p15:clr>
            <a:srgbClr val="B4B4B4"/>
          </p15:clr>
        </p15:guide>
        <p15:guide id="49" pos="7440">
          <p15:clr>
            <a:srgbClr val="B4B4B4"/>
          </p15:clr>
        </p15:guide>
        <p15:guide id="50" pos="7680">
          <p15:clr>
            <a:srgbClr val="B4B4B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Relationship Id="rId10" Type="http://schemas.openxmlformats.org/officeDocument/2006/relationships/image" Target="../media/image8.png"/><Relationship Id="rId11" Type="http://schemas.microsoft.com/office/2007/relationships/hdphoto" Target="../media/hdphoto1.wdp"/><Relationship Id="rId12" Type="http://schemas.openxmlformats.org/officeDocument/2006/relationships/image" Target="../media/image9.png"/><Relationship Id="rId13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2AD0775C-11DA-7F4E-E0D1-25837062D7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343691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D0775C-11DA-7F4E-E0D1-25837062D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3057D4-2D4C-8305-1258-7F95F604B1B5}"/>
              </a:ext>
            </a:extLst>
          </p:cNvPr>
          <p:cNvSpPr/>
          <p:nvPr/>
        </p:nvSpPr>
        <p:spPr>
          <a:xfrm>
            <a:off x="380999" y="7981894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04284-170A-BCA7-8571-9EF84949E6BD}"/>
              </a:ext>
            </a:extLst>
          </p:cNvPr>
          <p:cNvSpPr/>
          <p:nvPr/>
        </p:nvSpPr>
        <p:spPr>
          <a:xfrm>
            <a:off x="380999" y="9883724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54BBA0-20CC-3A43-15FF-B9E9DEAC91A4}"/>
              </a:ext>
            </a:extLst>
          </p:cNvPr>
          <p:cNvSpPr/>
          <p:nvPr/>
        </p:nvSpPr>
        <p:spPr>
          <a:xfrm>
            <a:off x="380999" y="6080064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B21744-7C0C-8D84-1AAD-9594A28C7C0A}"/>
              </a:ext>
            </a:extLst>
          </p:cNvPr>
          <p:cNvSpPr/>
          <p:nvPr/>
        </p:nvSpPr>
        <p:spPr>
          <a:xfrm>
            <a:off x="380999" y="1673352"/>
            <a:ext cx="8421625" cy="1407103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5F008-9280-845D-74FB-12EAEB20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</a:xfrm>
        </p:spPr>
        <p:txBody>
          <a:bodyPr vert="horz"/>
          <a:lstStyle/>
          <a:p>
            <a:pPr algn="r" rtl="1"/>
            <a:r>
              <a:rPr>
                <a:solidFill/>
                <a:latin typeface="Noto Naskh Arabic"/>
              </a:rPr>
              <a:t>تتكوّن استراتيجية الهدف من أربعة عناصر رئيسية: الرؤية والرسالة، الأعمدة الاستراتيجية، الأهداف الاستراتيجية ومؤشرات الأداء الرئيسية (KPIs)، والمبادرات الاستراتيجية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33CC2BE-AE3D-209E-3754-0FAD5422EB70}"/>
              </a:ext>
            </a:extLst>
          </p:cNvPr>
          <p:cNvSpPr txBox="1"/>
          <p:nvPr/>
        </p:nvSpPr>
        <p:spPr>
          <a:xfrm>
            <a:off x="4968477" y="1072746"/>
            <a:ext cx="6842760" cy="193899"/>
          </a:xfrm>
          <a:prstGeom prst="rect">
            <a:avLst/>
          </a:prstGeom>
          <a:noFill/>
          <a:ln w="6350" cap="flat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A5FFFF"/>
                </a:solidFill>
              </a14:hiddenFill>
            </a:ext>
            <a:ext uri="{91240B29-F687-4F45-9708-019B960494DF}">
              <a14:hiddenLine xmlns:a14="http://schemas.microsoft.com/office/drawing/2010/main" w="6350" cap="flat">
                <a:solidFill>
                  <a:srgbClr val="ADABA1"/>
                </a:solidFill>
                <a:miter lim="800000"/>
              </a14:hiddenLine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indent="339725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defRPr b="1"/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>
                <a:solidFill>
                  <a:srgbClr val="15345A"/>
                </a:solidFill>
                <a:latin typeface="Noto Naskh Arabic"/>
              </a:rPr>
              <a:t>عناصر الاستراتيجية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70C6B-E501-2BE3-5384-6240D939E5BB}"/>
              </a:ext>
            </a:extLst>
          </p:cNvPr>
          <p:cNvSpPr/>
          <p:nvPr/>
        </p:nvSpPr>
        <p:spPr>
          <a:xfrm>
            <a:off x="5966677" y="7030979"/>
            <a:ext cx="5616246" cy="938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0D2A47"/>
                </a:solidFill>
                <a:latin typeface="Noto Naskh Arabic"/>
              </a:rPr>
              <a:t>الأهداف الاستراتيجية ومؤشرات الأداء الرئيسية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64924E-E46B-8C0D-9218-8441268C6ECB}"/>
              </a:ext>
            </a:extLst>
          </p:cNvPr>
          <p:cNvSpPr/>
          <p:nvPr/>
        </p:nvSpPr>
        <p:spPr>
          <a:xfrm>
            <a:off x="5962615" y="5129149"/>
            <a:ext cx="5616246" cy="9382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0D2A47"/>
                </a:solidFill>
                <a:latin typeface="Noto Naskh Arabic"/>
              </a:rPr>
              <a:t>الأعمدة الاستراتيجية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07788A-D65C-C838-6A92-564CD786F5F6}"/>
              </a:ext>
            </a:extLst>
          </p:cNvPr>
          <p:cNvSpPr/>
          <p:nvPr/>
        </p:nvSpPr>
        <p:spPr>
          <a:xfrm flipH="1">
            <a:off x="5960585" y="3093155"/>
            <a:ext cx="5620307" cy="140710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AEE1D-85CB-24C3-0227-301E1145C04C}"/>
              </a:ext>
            </a:extLst>
          </p:cNvPr>
          <p:cNvSpPr/>
          <p:nvPr/>
        </p:nvSpPr>
        <p:spPr>
          <a:xfrm>
            <a:off x="6948369" y="4512957"/>
            <a:ext cx="3078027" cy="603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0D2A47"/>
                </a:solidFill>
                <a:latin typeface="Noto Naskh Arabic"/>
              </a:rPr>
              <a:t>الرؤية والرسالة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3B0C0E-B5FA-EBFF-EC46-C5A136994C06}"/>
              </a:ext>
            </a:extLst>
          </p:cNvPr>
          <p:cNvSpPr/>
          <p:nvPr/>
        </p:nvSpPr>
        <p:spPr>
          <a:xfrm>
            <a:off x="5962615" y="8932809"/>
            <a:ext cx="5616246" cy="9382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0D2A47"/>
                </a:solidFill>
                <a:latin typeface="Noto Naskh Arabic"/>
              </a:rPr>
              <a:t>المبادرات الاستراتيجية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47809-A364-9A7F-CEF7-5A7DD0D6F6A9}"/>
              </a:ext>
            </a:extLst>
          </p:cNvPr>
          <p:cNvSpPr/>
          <p:nvPr/>
        </p:nvSpPr>
        <p:spPr>
          <a:xfrm>
            <a:off x="611108" y="3093155"/>
            <a:ext cx="4982258" cy="89255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15345A"/>
                </a:solidFill>
                <a:latin typeface="Noto Naskh Arabic"/>
              </a:rPr>
              <a:t>رؤية تصف الحالة المستقبلية المأمولة للهدف في المملكة العربية السعودية
رسالة توضح الغرض الاستراتيجي للشركة، وتسلط الضوء على ما تسعى إلى تحقيقه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5EC8E-CBB5-A521-1622-EB97CA30DDCD}"/>
              </a:ext>
            </a:extLst>
          </p:cNvPr>
          <p:cNvSpPr/>
          <p:nvPr/>
        </p:nvSpPr>
        <p:spPr>
          <a:xfrm>
            <a:off x="536448" y="7030979"/>
            <a:ext cx="5056918" cy="498598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0000"/>
                </a:solidFill>
                <a:latin typeface="Noto Naskh Arabic"/>
              </a:rPr>
              <a:t>مبادرات استراتيجية ذات أولوية وقابلة للتنفيذ، مملوكة للشركة، توفر خارطة طريق تفصيلية لتحقيق الأهداف الاستراتيجية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0A6459-4A1B-BA07-2AEF-D649B8BD974F}"/>
              </a:ext>
            </a:extLst>
          </p:cNvPr>
          <p:cNvSpPr/>
          <p:nvPr/>
        </p:nvSpPr>
        <p:spPr>
          <a:xfrm>
            <a:off x="617415" y="4430252"/>
            <a:ext cx="4983766" cy="74174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73AF"/>
                </a:solidFill>
                <a:latin typeface="Noto Naskh Arabic"/>
              </a:rPr>
              <a:t>الأهداف الاستراتيجية المرتبطة بالأعمدة تسلط الضوء على أولويات الشركة المراد تحقيقها ضمن كل عمود
يتم توزيع مؤشرات الأداء الرئيسية عبر الأهداف لتمكين وتتبع تحقيقها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8AB92A-0BCA-77BA-9EAF-910C292C6B58}"/>
              </a:ext>
            </a:extLst>
          </p:cNvPr>
          <p:cNvSpPr/>
          <p:nvPr/>
        </p:nvSpPr>
        <p:spPr>
          <a:xfrm>
            <a:off x="536448" y="3998407"/>
            <a:ext cx="505691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73AF"/>
                </a:solidFill>
                <a:latin typeface="Noto Naskh Arabic"/>
              </a:rPr>
              <a:t>تغطي الأعمدة الاستراتيجية الموضوعات الرئيسية ومجالات التركيز لاستراتيجية الشركة لتحقيق الرؤية والرسالة المقصودة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85CCA67-84E9-9AB2-2F3B-54B1B7910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410351" y="2322322"/>
            <a:ext cx="450233" cy="45023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6974294-0B48-486C-7A53-30FC82795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13753" y="4587643"/>
            <a:ext cx="441960" cy="4419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211D24-2986-D909-7938-690D6FDCF03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384" y="6080064"/>
            <a:ext cx="440460" cy="3756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A270593-1AF4-B053-DC22-0A465047D0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540" y="6468462"/>
            <a:ext cx="354860" cy="3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2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92128352601944607514E+00&quot;&gt;&lt;m_msothmcolidx val=&quot;0&quot;/&gt;&lt;m_rgb r=&quot;FF&quot; g=&quot;DE&quot; b=&quot;75&quot;/&gt;&lt;/elem&gt;&lt;elem m_fUsage=&quot;1.79949244524767859588E+00&quot;&gt;&lt;m_msothmcolidx val=&quot;7&quot;/&gt;&lt;/elem&gt;&lt;elem m_fUsage=&quot;1.39035148722114909603E+00&quot;&gt;&lt;m_msothmcolidx val=&quot;0&quot;/&gt;&lt;m_rgb r=&quot;C1&quot; g=&quot;CE&quot; b=&quot;D4&quot;/&gt;&lt;/elem&gt;&lt;elem m_fUsage=&quot;1.09018550429436911209E+00&quot;&gt;&lt;m_msothmcolidx val=&quot;0&quot;/&gt;&lt;m_rgb r=&quot;12&quot; g=&quot;B1&quot; b=&quot;C6&quot;/&gt;&lt;/elem&gt;&lt;elem m_fUsage=&quot;9.54491961930122867486E-01&quot;&gt;&lt;m_msothmcolidx val=&quot;0&quot;/&gt;&lt;m_rgb r=&quot;A3&quot; g=&quot;B6&quot; b=&quot;BF&quot;/&gt;&lt;/elem&gt;&lt;elem m_fUsage=&quot;8.96268942759628983730E-01&quot;&gt;&lt;m_msothmcolidx val=&quot;0&quot;/&gt;&lt;m_rgb r=&quot;7E&quot; g=&quot;AA&quot; b=&quot;E1&quot;/&gt;&lt;/elem&gt;&lt;elem m_fUsage=&quot;2.84664563701197359524E-01&quot;&gt;&lt;m_msothmcolidx val=&quot;0&quot;/&gt;&lt;m_rgb r=&quot;66&quot; g=&quot;86&quot; b=&quot;95&quot;/&gt;&lt;/elem&gt;&lt;elem m_fUsage=&quot;2.28653064361933139326E-01&quot;&gt;&lt;m_msothmcolidx val=&quot;0&quot;/&gt;&lt;m_rgb r=&quot;71&quot; g=&quot;B5&quot; b=&quot;BF&quot;/&gt;&lt;/elem&gt;&lt;elem m_fUsage=&quot;1.85034989499512858568E-01&quot;&gt;&lt;m_msothmcolidx val=&quot;0&quot;/&gt;&lt;m_rgb r=&quot;CC&quot; g=&quot;F3&quot; b=&quot;F9&quot;/&gt;&lt;/elem&gt;&lt;elem m_fUsage=&quot;1.54309844642477461685E-01&quot;&gt;&lt;m_msothmcolidx val=&quot;0&quot;/&gt;&lt;m_rgb r=&quot;D8&quot; g=&quot;E6&quot; b=&quot;F6&quot;/&gt;&lt;/elem&gt;&lt;elem m_fUsage=&quot;2.78128389443693807559E-02&quot;&gt;&lt;m_msothmcolidx val=&quot;0&quot;/&gt;&lt;m_rgb r=&quot;73&quot; g=&quot;85&quot; b=&quot;9C&quot;/&gt;&lt;/elem&gt;&lt;elem m_fUsage=&quot;2.68285653498468792955E-02&quot;&gt;&lt;m_msothmcolidx val=&quot;0&quot;/&gt;&lt;m_rgb r=&quot;A1&quot; g=&quot;AE&quot; b=&quot;BD&quot;/&gt;&lt;/elem&gt;&lt;elem m_fUsage=&quot;2.40326617165816450172E-02&quot;&gt;&lt;m_msothmcolidx val=&quot;0&quot;/&gt;&lt;m_rgb r=&quot;E0&quot; g=&quot;F8&quot; b=&quot;FB&quot;/&gt;&lt;/elem&gt;&lt;elem m_fUsage=&quot;4.08234397488106345864E-03&quot;&gt;&lt;m_msothmcolidx val=&quot;0&quot;/&gt;&lt;m_rgb r=&quot;D0&quot; g=&quot;D6&quot; b=&quot;DE&quot;/&gt;&lt;/elem&gt;&lt;elem m_fUsage=&quot;3.38139191352273020194E-03&quot;&gt;&lt;m_msothmcolidx val=&quot;0&quot;/&gt;&lt;m_rgb r=&quot;FF&quot; g=&quot;EC&quot; b=&quot;B2&quot;/&gt;&lt;/elem&gt;&lt;elem m_fUsage=&quot;2.96635704021827508597E-03&quot;&gt;&lt;m_msothmcolidx val=&quot;0&quot;/&gt;&lt;m_rgb r=&quot;E7&quot; g=&quot;F8&quot; b=&quot;FA&quot;/&gt;&lt;/elem&gt;&lt;elem m_fUsage=&quot;2.73892744995341171077E-03&quot;&gt;&lt;m_msothmcolidx val=&quot;0&quot;/&gt;&lt;m_rgb r=&quot;44&quot; g=&quot;5D&quot; b=&quot;7B&quot;/&gt;&lt;/elem&gt;&lt;elem m_fUsage=&quot;1.45557834293069112905E-03&quot;&gt;&lt;m_msothmcolidx val=&quot;0&quot;/&gt;&lt;m_rgb r=&quot;BE&quot; g=&quot;D5&quot; b=&quot;F0&quot;/&gt;&lt;/elem&gt;&lt;elem m_fUsage=&quot;9.27293188471290806725E-04&quot;&gt;&lt;m_msothmcolidx val=&quot;0&quot;/&gt;&lt;m_rgb r=&quot;E1&quot; g=&quot;F7&quot; b=&quot;FB&quot;/&gt;&lt;/elem&gt;&lt;elem m_fUsage=&quot;5.99559837907011946440E-04&quot;&gt;&lt;m_msothmcolidx val=&quot;0&quot;/&gt;&lt;m_rgb r=&quot;9F&quot; g=&quot;C0&quot; b=&quot;E9&quot;/&gt;&lt;/elem&gt;&lt;elem m_fUsage=&quot;9.49619203004967670206E-05&quot;&gt;&lt;m_msothmcolidx val=&quot;0&quot;/&gt;&lt;m_rgb r=&quot;79&quot; g=&quot;D1&quot; b=&quot;FF&quot;/&gt;&lt;/elem&gt;&lt;elem m_fUsage=&quot;8.78183629793685455352E-05&quot;&gt;&lt;m_msothmcolidx val=&quot;0&quot;/&gt;&lt;m_rgb r=&quot;F3&quot; g=&quot;94&quot; b=&quot;87&quot;/&gt;&lt;/elem&gt;&lt;elem m_fUsage=&quot;6.32240973291413180853E-05&quot;&gt;&lt;m_msothmcolidx val=&quot;0&quot;/&gt;&lt;m_rgb r=&quot;D7&quot; g=&quot;E3&quot; b=&quot;F1&quot;/&gt;&lt;/elem&gt;&lt;elem m_fUsage=&quot;6.23045159091559366078E-05&quot;&gt;&lt;m_msothmcolidx val=&quot;0&quot;/&gt;&lt;m_rgb r=&quot;3D&quot; g=&quot;80&quot; b=&quot;D2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SfScSHtTjwqjGX7KvCM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earney Report Template">
  <a:themeElements>
    <a:clrScheme name="Custom 9">
      <a:dk1>
        <a:srgbClr val="15345A"/>
      </a:dk1>
      <a:lt1>
        <a:srgbClr val="FFFFFF"/>
      </a:lt1>
      <a:dk2>
        <a:srgbClr val="97ADB8"/>
      </a:dk2>
      <a:lt2>
        <a:srgbClr val="FFFFFF"/>
      </a:lt2>
      <a:accent1>
        <a:srgbClr val="15345A"/>
      </a:accent1>
      <a:accent2>
        <a:srgbClr val="0073AF"/>
      </a:accent2>
      <a:accent3>
        <a:srgbClr val="19B0C6"/>
      </a:accent3>
      <a:accent4>
        <a:srgbClr val="71154B"/>
      </a:accent4>
      <a:accent5>
        <a:srgbClr val="34B688"/>
      </a:accent5>
      <a:accent6>
        <a:srgbClr val="EB4C37"/>
      </a:accent6>
      <a:hlink>
        <a:srgbClr val="FDB237"/>
      </a:hlink>
      <a:folHlink>
        <a:srgbClr val="97ADB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CBAF91FC-DA7A-44C5-9C0E-D0AB2D99FF52}" vid="{D0537F04-A238-4482-BEC3-ED049BED08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6273C2-BF92-47B6-A57C-A35356F58411}">
  <we:reference id="wa200001766" version="1.5.0.0" store="en-US" storeType="OMEX"/>
  <we:alternateReferences>
    <we:reference id="WA200001766" version="1.5.0.0" store="" storeType="OMEX"/>
  </we:alternateReferences>
  <we:properties>
    <we:property name="CantoAssets" value="&quot;[{\&quot;scheme\&quot;:\&quot;image\&quot;,\&quot;id\&quot;:\&quot;lld58rm9et1qv9ngfimicaas1f\&quot;,\&quot;tenant\&quot;:\&quot;kearney.canto.com\&quot;,\&quot;time\&quot;:\&quot;20220612230029000\&quot;,\&quot;name\&quot;:\&quot;tpavli01-iOS-IMG_6926_1654816822923_1654816827723.251953-APP.jpg\&quot;,\&quot;addedby\&quot;:\&quot;test\&quot;}]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3F85BC3-B1CE-4751-9E20-E2A1730953AE}">
  <we:reference id="7c8099b1-056c-4a25-ad37-93577abb592e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3B0DF881FF134EB4099DF30672DBB4" ma:contentTypeVersion="14" ma:contentTypeDescription="Create a new document." ma:contentTypeScope="" ma:versionID="fab5d72214614722b763880c1d5d9dff">
  <xsd:schema xmlns:xsd="http://www.w3.org/2001/XMLSchema" xmlns:xs="http://www.w3.org/2001/XMLSchema" xmlns:p="http://schemas.microsoft.com/office/2006/metadata/properties" xmlns:ns2="643e7cb0-4e6a-4c0f-ade4-62e58230feb2" xmlns:ns3="4db725bd-2286-4107-8f60-7890e9b3234a" targetNamespace="http://schemas.microsoft.com/office/2006/metadata/properties" ma:root="true" ma:fieldsID="d65809758427efe31673a220aeec95da" ns2:_="" ns3:_="">
    <xsd:import namespace="643e7cb0-4e6a-4c0f-ade4-62e58230feb2"/>
    <xsd:import namespace="4db725bd-2286-4107-8f60-7890e9b323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e7cb0-4e6a-4c0f-ade4-62e58230fe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725bd-2286-4107-8f60-7890e9b3234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705ef07-70df-4680-839b-bfb02555e384}" ma:internalName="TaxCatchAll" ma:showField="CatchAllData" ma:web="4db725bd-2286-4107-8f60-7890e9b32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3e7cb0-4e6a-4c0f-ade4-62e58230feb2">
      <Terms xmlns="http://schemas.microsoft.com/office/infopath/2007/PartnerControls"/>
    </lcf76f155ced4ddcb4097134ff3c332f>
    <TaxCatchAll xmlns="4db725bd-2286-4107-8f60-7890e9b3234a" xsi:nil="true"/>
    <SharedWithUsers xmlns="4db725bd-2286-4107-8f60-7890e9b3234a">
      <UserInfo>
        <DisplayName>Ilhami, Oussama</DisplayName>
        <AccountId>1821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D949D0B-AFC8-4F71-94F3-D50C22FD1F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e7cb0-4e6a-4c0f-ade4-62e58230feb2"/>
    <ds:schemaRef ds:uri="4db725bd-2286-4107-8f60-7890e9b32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A09A00-003A-425A-A2CA-3A7F25D1F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D2AD8-012C-4677-B16C-4FD4B82A2EAA}">
  <ds:schemaRefs>
    <ds:schemaRef ds:uri="http://purl.org/dc/dcmitype/"/>
    <ds:schemaRef ds:uri="http://purl.org/dc/terms/"/>
    <ds:schemaRef ds:uri="http://schemas.microsoft.com/office/2006/documentManagement/types"/>
    <ds:schemaRef ds:uri="4db725bd-2286-4107-8f60-7890e9b3234a"/>
    <ds:schemaRef ds:uri="643e7cb0-4e6a-4c0f-ade4-62e58230feb2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124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System Font Regular</vt:lpstr>
      <vt:lpstr>Kearney Report Template</vt:lpstr>
      <vt:lpstr>think-cell Slide</vt:lpstr>
      <vt:lpstr>Target strategy consists of four key elements: Vision and mission, strategic pillars, strategic objectives &amp; KPIs and strategic initiatives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SDB Strategy Refresh</dc:title>
  <dc:creator>Aldaher, Sarah</dc:creator>
  <cp:lastModifiedBy>Bennis, Karim</cp:lastModifiedBy>
  <cp:revision>3</cp:revision>
  <dcterms:created xsi:type="dcterms:W3CDTF">2022-09-13T10:44:00Z</dcterms:created>
  <dcterms:modified xsi:type="dcterms:W3CDTF">2025-08-15T21:08:54Z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2022-09-13T13:34:59Z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a12ca7a4-b6db-4c24-bbc4-3ba629bd51fa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0x010100A73B0DF881FF134EB4099DF30672DBB4</vt:lpwstr>
  </property>
</Properties>
</file>