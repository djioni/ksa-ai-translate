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4"/>
  </p:sldMasterIdLst>
  <p:notesMasterIdLst>
    <p:notesMasterId r:id="rId6"/>
  </p:notesMasterIdLst>
  <p:sldIdLst>
    <p:sldId id="2147476247" r:id="rId5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1" id="{1A9AD308-F3F3-414D-8390-D203482D0632}">
          <p14:sldIdLst>
            <p14:sldId id="214747624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8"/>
    <a:srgbClr val="FFC000"/>
    <a:srgbClr val="EB4C37"/>
    <a:srgbClr val="BFBFBF"/>
    <a:srgbClr val="000000"/>
    <a:srgbClr val="D8E6F6"/>
    <a:srgbClr val="6499DB"/>
    <a:srgbClr val="D9D9D9"/>
    <a:srgbClr val="429DAA"/>
    <a:srgbClr val="D0E6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8C5628-C4B1-4496-B3BF-0A5F2B16A162}" v="2335" dt="2025-02-07T11:59:44.5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9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4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tags" Target="tags/tag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fld id="{64961859-E627-42AC-A15B-49D079B9DEDF}" type="datetimeFigureOut">
              <a:rPr lang="en-US" smtClean="0"/>
              <a:pPr/>
              <a:t>8/16/2025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fld id="{14EDB051-6810-4593-B599-5F17C57000B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40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EDB051-6810-4593-B599-5F17C57000B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 panose="020B0604020202020204" pitchFamily="34" charset="0"/>
                <a:sym typeface="Century Gothic" panose="020B0502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63740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tags" Target="../tags/tag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3899CC0-763F-45D4-9831-29F65C715D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31640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C3899CC0-763F-45D4-9831-29F65C715D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CAA8CDD-85D5-455D-B49F-664C574260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76237" y="406052"/>
            <a:ext cx="11434763" cy="5335587"/>
          </a:xfrm>
          <a:prstGeom prst="rect">
            <a:avLst/>
          </a:prstGeom>
        </p:spPr>
        <p:txBody>
          <a:bodyPr/>
          <a:lstStyle>
            <a:lvl1pPr marL="723900" marR="0" indent="-723900" algn="l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3800" b="1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  <a:lvl2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2pPr>
            <a:lvl3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3pPr>
            <a:lvl4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4pPr>
            <a:lvl5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6393159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296CD57-C0DB-43A8-8C5C-A539549839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95202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296CD57-C0DB-43A8-8C5C-A539549839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CB228E0-7DFF-492A-AFEB-CD54CE9A63B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35D0EF-49B3-4B34-8147-824201ACF000}"/>
              </a:ext>
            </a:extLst>
          </p:cNvPr>
          <p:cNvSpPr/>
          <p:nvPr userDrawn="1"/>
        </p:nvSpPr>
        <p:spPr bwMode="gray">
          <a:xfrm>
            <a:off x="0" y="1"/>
            <a:ext cx="12192000" cy="15224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E4614CD-0A06-45AD-BFB3-52C98A1514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81000" y="381000"/>
            <a:ext cx="11201400" cy="830997"/>
          </a:xfrm>
        </p:spPr>
        <p:txBody>
          <a:bodyPr vert="horz" wrap="square" lIns="0" tIns="0" rIns="0" bIns="0" anchorCtr="0">
            <a:noAutofit/>
          </a:bodyPr>
          <a:lstStyle>
            <a:lvl1pPr>
              <a:defRPr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r>
              <a:rPr lang="en-US"/>
              <a:t>Key message. If the audience reads just this, it will be enough. Make every word count. Say it like you would in the room.</a:t>
            </a:r>
          </a:p>
        </p:txBody>
      </p:sp>
      <p:sp>
        <p:nvSpPr>
          <p:cNvPr id="7" name="Grid1">
            <a:extLst>
              <a:ext uri="{FF2B5EF4-FFF2-40B4-BE49-F238E27FC236}">
                <a16:creationId xmlns:a16="http://schemas.microsoft.com/office/drawing/2014/main" id="{7A21B4BC-956A-4F09-9129-AC872F045D76}"/>
              </a:ext>
            </a:extLst>
          </p:cNvPr>
          <p:cNvSpPr/>
          <p:nvPr userDrawn="1"/>
        </p:nvSpPr>
        <p:spPr bwMode="gray">
          <a:xfrm>
            <a:off x="0" y="1524000"/>
            <a:ext cx="12192000" cy="533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algn="l">
              <a:lnSpc>
                <a:spcPct val="90000"/>
              </a:lnSpc>
            </a:pPr>
            <a:endParaRPr lang="en-US" sz="1400" dirty="0">
              <a:solidFill>
                <a:schemeClr val="tx1"/>
              </a:solidFill>
              <a:latin typeface="Century Gothic" panose="020B0502020202020204" pitchFamily="34" charset="0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77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9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C270B7BD-FC9D-4F69-A68F-E0C27C382D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74184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C270B7BD-FC9D-4F69-A68F-E0C27C382D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C22C1CB-4182-4CFE-892E-F42BC6EFB9A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6" name="Holder 2">
            <a:extLst>
              <a:ext uri="{FF2B5EF4-FFF2-40B4-BE49-F238E27FC236}">
                <a16:creationId xmlns:a16="http://schemas.microsoft.com/office/drawing/2014/main" id="{8C6B654B-8868-4E04-9D2A-566C949672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3300" y="1377950"/>
            <a:ext cx="3505200" cy="664797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>
              <a:defRPr sz="4800" b="1" i="0">
                <a:solidFill>
                  <a:schemeClr val="tx2"/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r>
              <a:rPr lang="en-US"/>
              <a:t>Thank you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965218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tags" Target="../tags/tag2.xml"/><Relationship Id="rId6" Type="http://schemas.openxmlformats.org/officeDocument/2006/relationships/tags" Target="../tags/tag3.xml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D1BB6C3-85C0-4D78-A335-487D253A70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791316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73" imgH="473" progId="TCLayout.ActiveDocument.1">
                  <p:embed/>
                </p:oleObj>
              </mc:Choice>
              <mc:Fallback>
                <p:oleObj name="think-cell Slide" r:id="rId7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8D1BB6C3-85C0-4D78-A335-487D253A70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0A01742A-C2C4-4349-BA00-741293CB36A4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368699-BA99-E84F-AB32-4E762B32A26B}"/>
              </a:ext>
            </a:extLst>
          </p:cNvPr>
          <p:cNvSpPr/>
          <p:nvPr userDrawn="1"/>
        </p:nvSpPr>
        <p:spPr bwMode="gray">
          <a:xfrm>
            <a:off x="0" y="-1587"/>
            <a:ext cx="12192000" cy="685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4B5871-DB92-6F46-AA38-789E9F5528BB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81000" y="381000"/>
            <a:ext cx="11049000" cy="94635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Key message. </a:t>
            </a:r>
            <a:br>
              <a:rPr lang="en-US"/>
            </a:br>
            <a:r>
              <a:rPr lang="en-US"/>
              <a:t>If the audience reads just this, it will be enough. Make every word count. Say it like you would in the room.</a:t>
            </a:r>
            <a:endParaRPr lang="en-US" noProof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D2AA55-AD71-458E-AB53-14B489582B00}"/>
              </a:ext>
            </a:extLst>
          </p:cNvPr>
          <p:cNvSpPr txBox="1"/>
          <p:nvPr userDrawn="1"/>
        </p:nvSpPr>
        <p:spPr bwMode="gray">
          <a:xfrm>
            <a:off x="11940791" y="6425871"/>
            <a:ext cx="377825" cy="276225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wrap="none" lIns="0" tIns="0" rIns="0" bIns="0" rtlCol="0" anchor="b" anchorCtr="0">
            <a:noAutofit/>
          </a:bodyPr>
          <a:lstStyle/>
          <a:p>
            <a:pPr algn="l">
              <a:lnSpc>
                <a:spcPct val="90000"/>
              </a:lnSpc>
            </a:pPr>
            <a:fld id="{6CE8C368-3382-4C28-AE75-DF7C05ACA19D}" type="slidenum">
              <a:rPr lang="en-US" sz="1000" b="0">
                <a:solidFill>
                  <a:schemeClr val="tx1">
                    <a:lumMod val="100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rPr>
              <a:pPr algn="l">
                <a:lnSpc>
                  <a:spcPct val="90000"/>
                </a:lnSpc>
              </a:pPr>
              <a:t>‹#›</a:t>
            </a:fld>
            <a:endParaRPr lang="en-US" sz="1000" b="0" dirty="0">
              <a:solidFill>
                <a:schemeClr val="tx1">
                  <a:lumMod val="100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6281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74" r:id="rId2"/>
    <p:sldLayoutId id="2147483676" r:id="rId3"/>
  </p:sldLayoutIdLst>
  <p:hf hdr="0" ftr="0" dt="0"/>
  <p:txStyles>
    <p:titleStyle>
      <a:lvl1pPr marL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2000" b="1" kern="1200">
          <a:solidFill>
            <a:schemeClr val="tx1"/>
          </a:solidFill>
          <a:latin typeface="Century Gothic" panose="020B0502020202020204" pitchFamily="34" charset="0"/>
          <a:ea typeface="+mj-ea"/>
          <a:cs typeface="Arial" panose="020B0604020202020204" pitchFamily="34" charset="0"/>
          <a:sym typeface="Century Gothic" panose="020B0502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US" sz="14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59156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734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System Font Regular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B4B4B4"/>
          </p15:clr>
        </p15:guide>
        <p15:guide id="2" orient="horz" pos="480">
          <p15:clr>
            <a:srgbClr val="B4B4B4"/>
          </p15:clr>
        </p15:guide>
        <p15:guide id="3" orient="horz" pos="720">
          <p15:clr>
            <a:srgbClr val="B4B4B4"/>
          </p15:clr>
        </p15:guide>
        <p15:guide id="4" orient="horz" pos="960">
          <p15:clr>
            <a:srgbClr val="B4B4B4"/>
          </p15:clr>
        </p15:guide>
        <p15:guide id="5" orient="horz" pos="1200">
          <p15:clr>
            <a:srgbClr val="B4B4B4"/>
          </p15:clr>
        </p15:guide>
        <p15:guide id="6" orient="horz" pos="1440">
          <p15:clr>
            <a:srgbClr val="B4B4B4"/>
          </p15:clr>
        </p15:guide>
        <p15:guide id="7" orient="horz" pos="1680">
          <p15:clr>
            <a:srgbClr val="B4B4B4"/>
          </p15:clr>
        </p15:guide>
        <p15:guide id="8" orient="horz" pos="1920">
          <p15:clr>
            <a:srgbClr val="B4B4B4"/>
          </p15:clr>
        </p15:guide>
        <p15:guide id="9" orient="horz" pos="2160">
          <p15:clr>
            <a:srgbClr val="B4B4B4"/>
          </p15:clr>
        </p15:guide>
        <p15:guide id="10" orient="horz" pos="2400">
          <p15:clr>
            <a:srgbClr val="B4B4B4"/>
          </p15:clr>
        </p15:guide>
        <p15:guide id="11" orient="horz" pos="2640">
          <p15:clr>
            <a:srgbClr val="B4B4B4"/>
          </p15:clr>
        </p15:guide>
        <p15:guide id="12" orient="horz" pos="2880">
          <p15:clr>
            <a:srgbClr val="B4B4B4"/>
          </p15:clr>
        </p15:guide>
        <p15:guide id="13" orient="horz" pos="3120">
          <p15:clr>
            <a:srgbClr val="B4B4B4"/>
          </p15:clr>
        </p15:guide>
        <p15:guide id="14" orient="horz" pos="3360">
          <p15:clr>
            <a:srgbClr val="B4B4B4"/>
          </p15:clr>
        </p15:guide>
        <p15:guide id="15" orient="horz" pos="3600">
          <p15:clr>
            <a:srgbClr val="B4B4B4"/>
          </p15:clr>
        </p15:guide>
        <p15:guide id="16" orient="horz" pos="3840">
          <p15:clr>
            <a:srgbClr val="B4B4B4"/>
          </p15:clr>
        </p15:guide>
        <p15:guide id="17" orient="horz" pos="4080">
          <p15:clr>
            <a:srgbClr val="B4B4B4"/>
          </p15:clr>
        </p15:guide>
        <p15:guide id="18" orient="horz" pos="4320">
          <p15:clr>
            <a:srgbClr val="B4B4B4"/>
          </p15:clr>
        </p15:guide>
        <p15:guide id="19" pos="240">
          <p15:clr>
            <a:srgbClr val="B4B4B4"/>
          </p15:clr>
        </p15:guide>
        <p15:guide id="20" pos="480">
          <p15:clr>
            <a:srgbClr val="B4B4B4"/>
          </p15:clr>
        </p15:guide>
        <p15:guide id="21" pos="720">
          <p15:clr>
            <a:srgbClr val="B4B4B4"/>
          </p15:clr>
        </p15:guide>
        <p15:guide id="22" pos="960">
          <p15:clr>
            <a:srgbClr val="B4B4B4"/>
          </p15:clr>
        </p15:guide>
        <p15:guide id="23" pos="1200">
          <p15:clr>
            <a:srgbClr val="B4B4B4"/>
          </p15:clr>
        </p15:guide>
        <p15:guide id="24" pos="1440">
          <p15:clr>
            <a:srgbClr val="B4B4B4"/>
          </p15:clr>
        </p15:guide>
        <p15:guide id="25" pos="1680">
          <p15:clr>
            <a:srgbClr val="B4B4B4"/>
          </p15:clr>
        </p15:guide>
        <p15:guide id="26" pos="1920">
          <p15:clr>
            <a:srgbClr val="B4B4B4"/>
          </p15:clr>
        </p15:guide>
        <p15:guide id="27" pos="2160">
          <p15:clr>
            <a:srgbClr val="B4B4B4"/>
          </p15:clr>
        </p15:guide>
        <p15:guide id="28" pos="2400">
          <p15:clr>
            <a:srgbClr val="B4B4B4"/>
          </p15:clr>
        </p15:guide>
        <p15:guide id="29" pos="2640">
          <p15:clr>
            <a:srgbClr val="B4B4B4"/>
          </p15:clr>
        </p15:guide>
        <p15:guide id="30" pos="2880">
          <p15:clr>
            <a:srgbClr val="B4B4B4"/>
          </p15:clr>
        </p15:guide>
        <p15:guide id="31" pos="3120">
          <p15:clr>
            <a:srgbClr val="B4B4B4"/>
          </p15:clr>
        </p15:guide>
        <p15:guide id="32" pos="3360">
          <p15:clr>
            <a:srgbClr val="B4B4B4"/>
          </p15:clr>
        </p15:guide>
        <p15:guide id="33" pos="3600">
          <p15:clr>
            <a:srgbClr val="B4B4B4"/>
          </p15:clr>
        </p15:guide>
        <p15:guide id="34" pos="3840">
          <p15:clr>
            <a:srgbClr val="B4B4B4"/>
          </p15:clr>
        </p15:guide>
        <p15:guide id="35" pos="4080">
          <p15:clr>
            <a:srgbClr val="B4B4B4"/>
          </p15:clr>
        </p15:guide>
        <p15:guide id="36" pos="4320">
          <p15:clr>
            <a:srgbClr val="B4B4B4"/>
          </p15:clr>
        </p15:guide>
        <p15:guide id="37" pos="4560">
          <p15:clr>
            <a:srgbClr val="B4B4B4"/>
          </p15:clr>
        </p15:guide>
        <p15:guide id="38" pos="4800">
          <p15:clr>
            <a:srgbClr val="B4B4B4"/>
          </p15:clr>
        </p15:guide>
        <p15:guide id="39" pos="5040">
          <p15:clr>
            <a:srgbClr val="B4B4B4"/>
          </p15:clr>
        </p15:guide>
        <p15:guide id="40" pos="5280">
          <p15:clr>
            <a:srgbClr val="B4B4B4"/>
          </p15:clr>
        </p15:guide>
        <p15:guide id="41" pos="5520">
          <p15:clr>
            <a:srgbClr val="B4B4B4"/>
          </p15:clr>
        </p15:guide>
        <p15:guide id="42" pos="5760">
          <p15:clr>
            <a:srgbClr val="B4B4B4"/>
          </p15:clr>
        </p15:guide>
        <p15:guide id="43" pos="6000">
          <p15:clr>
            <a:srgbClr val="B4B4B4"/>
          </p15:clr>
        </p15:guide>
        <p15:guide id="44" pos="6240">
          <p15:clr>
            <a:srgbClr val="B4B4B4"/>
          </p15:clr>
        </p15:guide>
        <p15:guide id="45" pos="6480">
          <p15:clr>
            <a:srgbClr val="B4B4B4"/>
          </p15:clr>
        </p15:guide>
        <p15:guide id="46" pos="6720">
          <p15:clr>
            <a:srgbClr val="B4B4B4"/>
          </p15:clr>
        </p15:guide>
        <p15:guide id="47" pos="6960">
          <p15:clr>
            <a:srgbClr val="B4B4B4"/>
          </p15:clr>
        </p15:guide>
        <p15:guide id="48" pos="7200">
          <p15:clr>
            <a:srgbClr val="B4B4B4"/>
          </p15:clr>
        </p15:guide>
        <p15:guide id="49" pos="7440">
          <p15:clr>
            <a:srgbClr val="B4B4B4"/>
          </p15:clr>
        </p15:guide>
        <p15:guide id="50" pos="7680">
          <p15:clr>
            <a:srgbClr val="B4B4B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image" Target="../media/image5.svg"/><Relationship Id="rId8" Type="http://schemas.openxmlformats.org/officeDocument/2006/relationships/image" Target="../media/image6.png"/><Relationship Id="rId9" Type="http://schemas.openxmlformats.org/officeDocument/2006/relationships/image" Target="../media/image7.svg"/><Relationship Id="rId10" Type="http://schemas.openxmlformats.org/officeDocument/2006/relationships/image" Target="../media/image8.png"/><Relationship Id="rId11" Type="http://schemas.microsoft.com/office/2007/relationships/hdphoto" Target="../media/hdphoto1.wdp"/><Relationship Id="rId12" Type="http://schemas.openxmlformats.org/officeDocument/2006/relationships/image" Target="../media/image9.png"/><Relationship Id="rId13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hink-cell data - do not delete" hidden="1">
            <a:extLst>
              <a:ext uri="{FF2B5EF4-FFF2-40B4-BE49-F238E27FC236}">
                <a16:creationId xmlns:a16="http://schemas.microsoft.com/office/drawing/2014/main" id="{2AD0775C-11DA-7F4E-E0D1-25837062D7E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93436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6" progId="TCLayout.ActiveDocument.1">
                  <p:embed/>
                </p:oleObj>
              </mc:Choice>
              <mc:Fallback>
                <p:oleObj name="think-cell Slide" r:id="rId4" imgW="484" imgH="486" progId="TCLayout.ActiveDocument.1">
                  <p:embed/>
                  <p:pic>
                    <p:nvPicPr>
                      <p:cNvPr id="1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AD0775C-11DA-7F4E-E0D1-25837062D7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13057D4-2D4C-8305-1258-7F95F604B1B5}"/>
              </a:ext>
            </a:extLst>
          </p:cNvPr>
          <p:cNvSpPr/>
          <p:nvPr/>
        </p:nvSpPr>
        <p:spPr>
          <a:xfrm>
            <a:off x="3389376" y="4340786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9204284-170A-BCA7-8571-9EF84949E6BD}"/>
              </a:ext>
            </a:extLst>
          </p:cNvPr>
          <p:cNvSpPr/>
          <p:nvPr/>
        </p:nvSpPr>
        <p:spPr>
          <a:xfrm>
            <a:off x="3389376" y="5440058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754BBA0-20CC-3A43-15FF-B9E9DEAC91A4}"/>
              </a:ext>
            </a:extLst>
          </p:cNvPr>
          <p:cNvSpPr/>
          <p:nvPr/>
        </p:nvSpPr>
        <p:spPr>
          <a:xfrm>
            <a:off x="3389376" y="3241513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6B21744-7C0C-8D84-1AAD-9594A28C7C0A}"/>
              </a:ext>
            </a:extLst>
          </p:cNvPr>
          <p:cNvSpPr/>
          <p:nvPr/>
        </p:nvSpPr>
        <p:spPr>
          <a:xfrm>
            <a:off x="3389376" y="1673352"/>
            <a:ext cx="8421625" cy="1407103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5F008-9280-845D-74FB-12EAEB20A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pPr algn="r" rtl="1"/>
            <a:r>
              <a:rPr>
                <a:latin typeface="Noto Naskh Arabic"/>
              </a:rPr>
              <a:t>تتكوّن استراتيجية الهدف من أربعة عناصر رئيسية: الرؤية والرسالة، الأعمدة الاستراتيجية، الأهداف الاستراتيجية ومؤشرات الأداء الرئيسية (KPIs)، والمبادرات الاستراتيجية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E33CC2BE-AE3D-209E-3754-0FAD5422EB70}"/>
              </a:ext>
            </a:extLst>
          </p:cNvPr>
          <p:cNvSpPr txBox="1"/>
          <p:nvPr/>
        </p:nvSpPr>
        <p:spPr>
          <a:xfrm>
            <a:off x="380763" y="1072746"/>
            <a:ext cx="6842760" cy="193899"/>
          </a:xfrm>
          <a:prstGeom prst="rect">
            <a:avLst/>
          </a:prstGeom>
          <a:noFill/>
          <a:ln w="6350" cap="flat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A5FFFF"/>
                </a:solidFill>
              </a14:hiddenFill>
            </a:ext>
            <a:ext uri="{91240B29-F687-4F45-9708-019B960494DF}">
              <a14:hiddenLine xmlns:a14="http://schemas.microsoft.com/office/drawing/2010/main" w="6350" cap="flat">
                <a:solidFill>
                  <a:srgbClr val="ADABA1"/>
                </a:solidFill>
                <a:miter lim="800000"/>
              </a14:hiddenLine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de-DE"/>
            </a:defPPr>
            <a:lvl1pPr indent="339725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defRPr b="1"/>
            </a:lvl1pPr>
          </a:lstStyle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400">
                <a:solidFill>
                  <a:srgbClr val="15345A"/>
                </a:solidFill>
                <a:latin typeface="Noto Naskh Arabic"/>
              </a:rPr>
              <a:t>عناصر الاستراتيجية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770C6B-E501-2BE3-5384-6240D939E5BB}"/>
              </a:ext>
            </a:extLst>
          </p:cNvPr>
          <p:cNvSpPr/>
          <p:nvPr/>
        </p:nvSpPr>
        <p:spPr>
          <a:xfrm>
            <a:off x="609077" y="4339516"/>
            <a:ext cx="5616246" cy="9382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800">
                <a:solidFill>
                  <a:srgbClr val="FFFFFF"/>
                </a:solidFill>
                <a:latin typeface="Noto Naskh Arabic"/>
              </a:rPr>
              <a:t>الأهداف الاستراتيجية ومؤشرات الأداء الرئيسية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64924E-E46B-8C0D-9218-8441268C6ECB}"/>
              </a:ext>
            </a:extLst>
          </p:cNvPr>
          <p:cNvSpPr/>
          <p:nvPr/>
        </p:nvSpPr>
        <p:spPr>
          <a:xfrm>
            <a:off x="613139" y="3240878"/>
            <a:ext cx="5616246" cy="93821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800">
                <a:solidFill>
                  <a:srgbClr val="FFFFFF"/>
                </a:solidFill>
                <a:latin typeface="Noto Naskh Arabic"/>
              </a:rPr>
              <a:t>الأعمدة الاستراتيجية</a:t>
            </a: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E307788A-D65C-C838-6A92-564CD786F5F6}"/>
              </a:ext>
            </a:extLst>
          </p:cNvPr>
          <p:cNvSpPr/>
          <p:nvPr/>
        </p:nvSpPr>
        <p:spPr>
          <a:xfrm flipH="1">
            <a:off x="611108" y="1673353"/>
            <a:ext cx="5620307" cy="140710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CAEE1D-85CB-24C3-0227-301E1145C04C}"/>
              </a:ext>
            </a:extLst>
          </p:cNvPr>
          <p:cNvSpPr/>
          <p:nvPr/>
        </p:nvSpPr>
        <p:spPr>
          <a:xfrm>
            <a:off x="2165604" y="2275228"/>
            <a:ext cx="3078027" cy="6034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800">
                <a:solidFill>
                  <a:srgbClr val="FFFFFF"/>
                </a:solidFill>
                <a:latin typeface="Noto Naskh Arabic"/>
              </a:rPr>
              <a:t>الرؤية والرسالة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3B0C0E-B5FA-EBFF-EC46-C5A136994C06}"/>
              </a:ext>
            </a:extLst>
          </p:cNvPr>
          <p:cNvSpPr/>
          <p:nvPr/>
        </p:nvSpPr>
        <p:spPr>
          <a:xfrm>
            <a:off x="613139" y="5438154"/>
            <a:ext cx="5616246" cy="9382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800">
                <a:solidFill>
                  <a:srgbClr val="FFFFFF"/>
                </a:solidFill>
                <a:latin typeface="Noto Naskh Arabic"/>
              </a:rPr>
              <a:t>المبادرات الاستراتيجية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E47809-A364-9A7F-CEF7-5A7DD0D6F6A9}"/>
              </a:ext>
            </a:extLst>
          </p:cNvPr>
          <p:cNvSpPr/>
          <p:nvPr/>
        </p:nvSpPr>
        <p:spPr>
          <a:xfrm>
            <a:off x="6598634" y="1930626"/>
            <a:ext cx="4982258" cy="89255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 sz="1200">
                <a:solidFill>
                  <a:srgbClr val="15345A"/>
                </a:solidFill>
                <a:latin typeface="Noto Naskh Arabic"/>
              </a:rPr>
              <a:t>رؤية تصف الحالة المستقبلية المأمولة للهدف في المملكة العربية السعودية
رسالة توضح الغرض الاستراتيجي للشركة، وتسلط الضوء على ما تسعى إلى تحقيقه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65EC8E-CBB5-A521-1622-EB97CA30DDCD}"/>
              </a:ext>
            </a:extLst>
          </p:cNvPr>
          <p:cNvSpPr/>
          <p:nvPr/>
        </p:nvSpPr>
        <p:spPr>
          <a:xfrm>
            <a:off x="6598634" y="5719420"/>
            <a:ext cx="5056918" cy="498598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 sz="1200">
                <a:solidFill>
                  <a:srgbClr val="000000"/>
                </a:solidFill>
                <a:latin typeface="Noto Naskh Arabic"/>
              </a:rPr>
              <a:t>مبادرات استراتيجية ذات أولوية وقابلة للتنفيذ، مملوكة للشركة، توفر خارطة طريق تفصيلية لتحقيق الأهداف الاستراتيجية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0A6459-4A1B-BA07-2AEF-D649B8BD974F}"/>
              </a:ext>
            </a:extLst>
          </p:cNvPr>
          <p:cNvSpPr/>
          <p:nvPr/>
        </p:nvSpPr>
        <p:spPr>
          <a:xfrm>
            <a:off x="6590819" y="4430252"/>
            <a:ext cx="4983766" cy="74174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 sz="1200">
                <a:solidFill>
                  <a:srgbClr val="0073AF"/>
                </a:solidFill>
                <a:latin typeface="Noto Naskh Arabic"/>
              </a:rPr>
              <a:t>الأهداف الاستراتيجية المرتبطة بالأعمدة تسلط الضوء على أولويات الشركة المراد تحقيقها ضمن كل عمود
يتم توزيع مؤشرات الأداء الرئيسية عبر الأهداف لتمكين وتتبع تحقيقها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8AB92A-0BCA-77BA-9EAF-910C292C6B58}"/>
              </a:ext>
            </a:extLst>
          </p:cNvPr>
          <p:cNvSpPr/>
          <p:nvPr/>
        </p:nvSpPr>
        <p:spPr>
          <a:xfrm>
            <a:off x="6598634" y="3536064"/>
            <a:ext cx="5056918" cy="36933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 sz="1200">
                <a:solidFill>
                  <a:srgbClr val="0073AF"/>
                </a:solidFill>
                <a:latin typeface="Noto Naskh Arabic"/>
              </a:rPr>
              <a:t>تغطي الأعمدة الاستراتيجية الموضوعات الرئيسية ومجالات التركيز لاستراتيجية الشركة لتحقيق الرؤية والرسالة المقصودة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B85CCA67-84E9-9AB2-2F3B-54B1B79106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331416" y="2322322"/>
            <a:ext cx="450233" cy="450233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F6974294-0B48-486C-7A53-30FC82795B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36287" y="4587643"/>
            <a:ext cx="441960" cy="44196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A211D24-2986-D909-7938-690D6FDCF03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156" y="3494481"/>
            <a:ext cx="440460" cy="37569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A270593-1AF4-B053-DC22-0A465047D0B4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3600" y="5702696"/>
            <a:ext cx="354860" cy="36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925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12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4&quot;&gt;&lt;elem m_fUsage=&quot;2.92128352601944607514E+00&quot;&gt;&lt;m_msothmcolidx val=&quot;0&quot;/&gt;&lt;m_rgb r=&quot;FF&quot; g=&quot;DE&quot; b=&quot;75&quot;/&gt;&lt;/elem&gt;&lt;elem m_fUsage=&quot;1.79949244524767859588E+00&quot;&gt;&lt;m_msothmcolidx val=&quot;7&quot;/&gt;&lt;/elem&gt;&lt;elem m_fUsage=&quot;1.39035148722114909603E+00&quot;&gt;&lt;m_msothmcolidx val=&quot;0&quot;/&gt;&lt;m_rgb r=&quot;C1&quot; g=&quot;CE&quot; b=&quot;D4&quot;/&gt;&lt;/elem&gt;&lt;elem m_fUsage=&quot;1.09018550429436911209E+00&quot;&gt;&lt;m_msothmcolidx val=&quot;0&quot;/&gt;&lt;m_rgb r=&quot;12&quot; g=&quot;B1&quot; b=&quot;C6&quot;/&gt;&lt;/elem&gt;&lt;elem m_fUsage=&quot;9.54491961930122867486E-01&quot;&gt;&lt;m_msothmcolidx val=&quot;0&quot;/&gt;&lt;m_rgb r=&quot;A3&quot; g=&quot;B6&quot; b=&quot;BF&quot;/&gt;&lt;/elem&gt;&lt;elem m_fUsage=&quot;8.96268942759628983730E-01&quot;&gt;&lt;m_msothmcolidx val=&quot;0&quot;/&gt;&lt;m_rgb r=&quot;7E&quot; g=&quot;AA&quot; b=&quot;E1&quot;/&gt;&lt;/elem&gt;&lt;elem m_fUsage=&quot;2.84664563701197359524E-01&quot;&gt;&lt;m_msothmcolidx val=&quot;0&quot;/&gt;&lt;m_rgb r=&quot;66&quot; g=&quot;86&quot; b=&quot;95&quot;/&gt;&lt;/elem&gt;&lt;elem m_fUsage=&quot;2.28653064361933139326E-01&quot;&gt;&lt;m_msothmcolidx val=&quot;0&quot;/&gt;&lt;m_rgb r=&quot;71&quot; g=&quot;B5&quot; b=&quot;BF&quot;/&gt;&lt;/elem&gt;&lt;elem m_fUsage=&quot;1.85034989499512858568E-01&quot;&gt;&lt;m_msothmcolidx val=&quot;0&quot;/&gt;&lt;m_rgb r=&quot;CC&quot; g=&quot;F3&quot; b=&quot;F9&quot;/&gt;&lt;/elem&gt;&lt;elem m_fUsage=&quot;1.54309844642477461685E-01&quot;&gt;&lt;m_msothmcolidx val=&quot;0&quot;/&gt;&lt;m_rgb r=&quot;D8&quot; g=&quot;E6&quot; b=&quot;F6&quot;/&gt;&lt;/elem&gt;&lt;elem m_fUsage=&quot;2.78128389443693807559E-02&quot;&gt;&lt;m_msothmcolidx val=&quot;0&quot;/&gt;&lt;m_rgb r=&quot;73&quot; g=&quot;85&quot; b=&quot;9C&quot;/&gt;&lt;/elem&gt;&lt;elem m_fUsage=&quot;2.68285653498468792955E-02&quot;&gt;&lt;m_msothmcolidx val=&quot;0&quot;/&gt;&lt;m_rgb r=&quot;A1&quot; g=&quot;AE&quot; b=&quot;BD&quot;/&gt;&lt;/elem&gt;&lt;elem m_fUsage=&quot;2.40326617165816450172E-02&quot;&gt;&lt;m_msothmcolidx val=&quot;0&quot;/&gt;&lt;m_rgb r=&quot;E0&quot; g=&quot;F8&quot; b=&quot;FB&quot;/&gt;&lt;/elem&gt;&lt;elem m_fUsage=&quot;4.08234397488106345864E-03&quot;&gt;&lt;m_msothmcolidx val=&quot;0&quot;/&gt;&lt;m_rgb r=&quot;D0&quot; g=&quot;D6&quot; b=&quot;DE&quot;/&gt;&lt;/elem&gt;&lt;elem m_fUsage=&quot;3.38139191352273020194E-03&quot;&gt;&lt;m_msothmcolidx val=&quot;0&quot;/&gt;&lt;m_rgb r=&quot;FF&quot; g=&quot;EC&quot; b=&quot;B2&quot;/&gt;&lt;/elem&gt;&lt;elem m_fUsage=&quot;2.96635704021827508597E-03&quot;&gt;&lt;m_msothmcolidx val=&quot;0&quot;/&gt;&lt;m_rgb r=&quot;E7&quot; g=&quot;F8&quot; b=&quot;FA&quot;/&gt;&lt;/elem&gt;&lt;elem m_fUsage=&quot;2.73892744995341171077E-03&quot;&gt;&lt;m_msothmcolidx val=&quot;0&quot;/&gt;&lt;m_rgb r=&quot;44&quot; g=&quot;5D&quot; b=&quot;7B&quot;/&gt;&lt;/elem&gt;&lt;elem m_fUsage=&quot;1.45557834293069112905E-03&quot;&gt;&lt;m_msothmcolidx val=&quot;0&quot;/&gt;&lt;m_rgb r=&quot;BE&quot; g=&quot;D5&quot; b=&quot;F0&quot;/&gt;&lt;/elem&gt;&lt;elem m_fUsage=&quot;9.27293188471290806725E-04&quot;&gt;&lt;m_msothmcolidx val=&quot;0&quot;/&gt;&lt;m_rgb r=&quot;E1&quot; g=&quot;F7&quot; b=&quot;FB&quot;/&gt;&lt;/elem&gt;&lt;elem m_fUsage=&quot;5.99559837907011946440E-04&quot;&gt;&lt;m_msothmcolidx val=&quot;0&quot;/&gt;&lt;m_rgb r=&quot;9F&quot; g=&quot;C0&quot; b=&quot;E9&quot;/&gt;&lt;/elem&gt;&lt;elem m_fUsage=&quot;9.49619203004967670206E-05&quot;&gt;&lt;m_msothmcolidx val=&quot;0&quot;/&gt;&lt;m_rgb r=&quot;79&quot; g=&quot;D1&quot; b=&quot;FF&quot;/&gt;&lt;/elem&gt;&lt;elem m_fUsage=&quot;8.78183629793685455352E-05&quot;&gt;&lt;m_msothmcolidx val=&quot;0&quot;/&gt;&lt;m_rgb r=&quot;F3&quot; g=&quot;94&quot; b=&quot;87&quot;/&gt;&lt;/elem&gt;&lt;elem m_fUsage=&quot;6.32240973291413180853E-05&quot;&gt;&lt;m_msothmcolidx val=&quot;0&quot;/&gt;&lt;m_rgb r=&quot;D7&quot; g=&quot;E3&quot; b=&quot;F1&quot;/&gt;&lt;/elem&gt;&lt;elem m_fUsage=&quot;6.23045159091559366078E-05&quot;&gt;&lt;m_msothmcolidx val=&quot;0&quot;/&gt;&lt;m_rgb r=&quot;3D&quot; g=&quot;80&quot; b=&quot;D2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ZRxNLtusT3d_5u10wpc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T.QOgyeJNf.h0YE66Hr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xSfScSHtTjwqjGX7KvCM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Kearney Report Template">
  <a:themeElements>
    <a:clrScheme name="Custom 9">
      <a:dk1>
        <a:srgbClr val="15345A"/>
      </a:dk1>
      <a:lt1>
        <a:srgbClr val="FFFFFF"/>
      </a:lt1>
      <a:dk2>
        <a:srgbClr val="97ADB8"/>
      </a:dk2>
      <a:lt2>
        <a:srgbClr val="FFFFFF"/>
      </a:lt2>
      <a:accent1>
        <a:srgbClr val="15345A"/>
      </a:accent1>
      <a:accent2>
        <a:srgbClr val="0073AF"/>
      </a:accent2>
      <a:accent3>
        <a:srgbClr val="19B0C6"/>
      </a:accent3>
      <a:accent4>
        <a:srgbClr val="71154B"/>
      </a:accent4>
      <a:accent5>
        <a:srgbClr val="34B688"/>
      </a:accent5>
      <a:accent6>
        <a:srgbClr val="EB4C37"/>
      </a:accent6>
      <a:hlink>
        <a:srgbClr val="FDB237"/>
      </a:hlink>
      <a:folHlink>
        <a:srgbClr val="97ADB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9" tIns="72009" rIns="72009" bIns="72009" rtlCol="0" anchor="t"/>
      <a:lstStyle>
        <a:defPPr algn="l">
          <a:lnSpc>
            <a:spcPct val="90000"/>
          </a:lnSpc>
          <a:defRPr sz="14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90000"/>
          </a:lnSpc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CBAF91FC-DA7A-44C5-9C0E-D0AB2D99FF52}" vid="{D0537F04-A238-4482-BEC3-ED049BED08E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6">
    <wetp:webextensionref xmlns:r="http://schemas.openxmlformats.org/officeDocument/2006/relationships" r:id="rId1"/>
  </wetp:taskpane>
  <wetp:taskpane dockstate="right" visibility="0" width="525" row="6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696273C2-BF92-47B6-A57C-A35356F58411}">
  <we:reference id="wa200001766" version="1.5.0.0" store="en-US" storeType="OMEX"/>
  <we:alternateReferences>
    <we:reference id="WA200001766" version="1.5.0.0" store="" storeType="OMEX"/>
  </we:alternateReferences>
  <we:properties>
    <we:property name="CantoAssets" value="&quot;[{\&quot;scheme\&quot;:\&quot;image\&quot;,\&quot;id\&quot;:\&quot;lld58rm9et1qv9ngfimicaas1f\&quot;,\&quot;tenant\&quot;:\&quot;kearney.canto.com\&quot;,\&quot;time\&quot;:\&quot;20220612230029000\&quot;,\&quot;name\&quot;:\&quot;tpavli01-iOS-IMG_6926_1654816822923_1654816827723.251953-APP.jpg\&quot;,\&quot;addedby\&quot;:\&quot;test\&quot;}]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3F85BC3-B1CE-4751-9E20-E2A1730953AE}">
  <we:reference id="7c8099b1-056c-4a25-ad37-93577abb592e" version="1.0.0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73B0DF881FF134EB4099DF30672DBB4" ma:contentTypeVersion="14" ma:contentTypeDescription="Create a new document." ma:contentTypeScope="" ma:versionID="fab5d72214614722b763880c1d5d9dff">
  <xsd:schema xmlns:xsd="http://www.w3.org/2001/XMLSchema" xmlns:xs="http://www.w3.org/2001/XMLSchema" xmlns:p="http://schemas.microsoft.com/office/2006/metadata/properties" xmlns:ns2="643e7cb0-4e6a-4c0f-ade4-62e58230feb2" xmlns:ns3="4db725bd-2286-4107-8f60-7890e9b3234a" targetNamespace="http://schemas.microsoft.com/office/2006/metadata/properties" ma:root="true" ma:fieldsID="d65809758427efe31673a220aeec95da" ns2:_="" ns3:_="">
    <xsd:import namespace="643e7cb0-4e6a-4c0f-ade4-62e58230feb2"/>
    <xsd:import namespace="4db725bd-2286-4107-8f60-7890e9b3234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3e7cb0-4e6a-4c0f-ade4-62e58230fe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c350327-7f8b-4e4c-9470-6526d29b83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b725bd-2286-4107-8f60-7890e9b3234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6705ef07-70df-4680-839b-bfb02555e384}" ma:internalName="TaxCatchAll" ma:showField="CatchAllData" ma:web="4db725bd-2286-4107-8f60-7890e9b3234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43e7cb0-4e6a-4c0f-ade4-62e58230feb2">
      <Terms xmlns="http://schemas.microsoft.com/office/infopath/2007/PartnerControls"/>
    </lcf76f155ced4ddcb4097134ff3c332f>
    <TaxCatchAll xmlns="4db725bd-2286-4107-8f60-7890e9b3234a" xsi:nil="true"/>
    <SharedWithUsers xmlns="4db725bd-2286-4107-8f60-7890e9b3234a">
      <UserInfo>
        <DisplayName>Ilhami, Oussama</DisplayName>
        <AccountId>1821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BD949D0B-AFC8-4F71-94F3-D50C22FD1F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3e7cb0-4e6a-4c0f-ade4-62e58230feb2"/>
    <ds:schemaRef ds:uri="4db725bd-2286-4107-8f60-7890e9b323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8A09A00-003A-425A-A2CA-3A7F25D1FC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1D2AD8-012C-4677-B16C-4FD4B82A2EAA}">
  <ds:schemaRefs>
    <ds:schemaRef ds:uri="http://purl.org/dc/dcmitype/"/>
    <ds:schemaRef ds:uri="http://purl.org/dc/terms/"/>
    <ds:schemaRef ds:uri="http://schemas.microsoft.com/office/2006/documentManagement/types"/>
    <ds:schemaRef ds:uri="4db725bd-2286-4107-8f60-7890e9b3234a"/>
    <ds:schemaRef ds:uri="643e7cb0-4e6a-4c0f-ade4-62e58230feb2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3796</TotalTime>
  <Words>124</Words>
  <Application>Microsoft Office PowerPoint</Application>
  <PresentationFormat>Widescreen</PresentationFormat>
  <Paragraphs>13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Century Gothic</vt:lpstr>
      <vt:lpstr>System Font Regular</vt:lpstr>
      <vt:lpstr>Kearney Report Template</vt:lpstr>
      <vt:lpstr>think-cell Slide</vt:lpstr>
      <vt:lpstr>Target strategy consists of four key elements: Vision and mission, strategic pillars, strategic objectives &amp; KPIs and strategic initiatives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SDB Strategy Refresh</dc:title>
  <dc:creator>Aldaher, Sarah</dc:creator>
  <cp:lastModifiedBy>Bennis, Karim</cp:lastModifiedBy>
  <cp:revision>3</cp:revision>
  <dcterms:created xsi:type="dcterms:W3CDTF">2022-09-13T10:44:00Z</dcterms:created>
  <dcterms:modified xsi:type="dcterms:W3CDTF">2025-08-15T21:08:54Z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e815a84-bb14-486b-9367-c1af54c95fa4_Enabled">
    <vt:lpwstr>true</vt:lpwstr>
  </property>
  <property fmtid="{D5CDD505-2E9C-101B-9397-08002B2CF9AE}" pid="3" name="MSIP_Label_0e815a84-bb14-486b-9367-c1af54c95fa4_SetDate">
    <vt:lpwstr>2022-09-13T13:34:59Z</vt:lpwstr>
  </property>
  <property fmtid="{D5CDD505-2E9C-101B-9397-08002B2CF9AE}" pid="4" name="MSIP_Label_0e815a84-bb14-486b-9367-c1af54c95fa4_Method">
    <vt:lpwstr>Standard</vt:lpwstr>
  </property>
  <property fmtid="{D5CDD505-2E9C-101B-9397-08002B2CF9AE}" pid="5" name="MSIP_Label_0e815a84-bb14-486b-9367-c1af54c95fa4_Name">
    <vt:lpwstr>Standard</vt:lpwstr>
  </property>
  <property fmtid="{D5CDD505-2E9C-101B-9397-08002B2CF9AE}" pid="6" name="MSIP_Label_0e815a84-bb14-486b-9367-c1af54c95fa4_SiteId">
    <vt:lpwstr>5dc645ed-297f-4dca-b0af-2339c71c5388</vt:lpwstr>
  </property>
  <property fmtid="{D5CDD505-2E9C-101B-9397-08002B2CF9AE}" pid="7" name="MSIP_Label_0e815a84-bb14-486b-9367-c1af54c95fa4_ActionId">
    <vt:lpwstr>a12ca7a4-b6db-4c24-bbc4-3ba629bd51fa</vt:lpwstr>
  </property>
  <property fmtid="{D5CDD505-2E9C-101B-9397-08002B2CF9AE}" pid="8" name="MSIP_Label_0e815a84-bb14-486b-9367-c1af54c95fa4_ContentBits">
    <vt:lpwstr>0</vt:lpwstr>
  </property>
  <property fmtid="{D5CDD505-2E9C-101B-9397-08002B2CF9AE}" pid="9" name="MediaServiceImageTags">
    <vt:lpwstr/>
  </property>
  <property fmtid="{D5CDD505-2E9C-101B-9397-08002B2CF9AE}" pid="10" name="ContentTypeId">
    <vt:lpwstr>0x010100A73B0DF881FF134EB4099DF30672DBB4</vt:lpwstr>
  </property>
</Properties>
</file>